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65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6"/>
  </p:normalViewPr>
  <p:slideViewPr>
    <p:cSldViewPr snapToGrid="0" snapToObjects="1">
      <p:cViewPr varScale="1">
        <p:scale>
          <a:sx n="109" d="100"/>
          <a:sy n="109" d="100"/>
        </p:scale>
        <p:origin x="17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Прогнозирование времени в пути</a:t>
            </a:r>
          </a:p>
          <a:p>
            <a:r>
              <a:t>в дорожном графе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199"/>
            <a:ext cx="6400800" cy="2549769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METR-LA • MLP • GNN • SARIMAX</a:t>
            </a:r>
            <a:endParaRPr lang="en-US" dirty="0"/>
          </a:p>
          <a:p>
            <a:endParaRPr lang="en-US" dirty="0"/>
          </a:p>
          <a:p>
            <a:pPr algn="r"/>
            <a:endParaRPr lang="ru-RU" dirty="0"/>
          </a:p>
          <a:p>
            <a:pPr algn="r"/>
            <a:r>
              <a:rPr lang="ru-RU" dirty="0"/>
              <a:t>Ронжин Дмитрий</a:t>
            </a:r>
          </a:p>
          <a:p>
            <a:pPr algn="r"/>
            <a:r>
              <a:rPr lang="en-US" dirty="0"/>
              <a:t>Otus ML-Professional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Датасет и постановка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Используется датасет METR-LA: скорости движения на дорожном графе Лос-Анджелеса</a:t>
            </a:r>
          </a:p>
          <a:p>
            <a:r>
              <a:t>Граф: сенсоры как узлы, рёбра — дорожная связность</a:t>
            </a:r>
          </a:p>
          <a:p>
            <a:r>
              <a:t>Задача: прогноз скорости/времени в пути на 5 минут вперёд</a:t>
            </a:r>
          </a:p>
          <a:p>
            <a:r>
              <a:t>Формат: окно истории T_in=12 шагов → прогноз T_out=1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Размерности данных: граф и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num_nodes = 207 — дорожные сенсоры (узлы графа)</a:t>
            </a:r>
          </a:p>
          <a:p>
            <a:r>
              <a:t>num_edges = 1722 — ориентированные рёбра дорожной сети</a:t>
            </a:r>
          </a:p>
          <a:p>
            <a:r>
              <a:t>edge_attr: (1722,) — веса рёбер (расстояния)</a:t>
            </a:r>
          </a:p>
          <a:p>
            <a:r>
              <a:t>x: (207, 2, 12) — вход одного snapshot’а</a:t>
            </a:r>
          </a:p>
          <a:p>
            <a:r>
              <a:t>207 — узлы, 2 — признаки, 12 — шагов истории (1 час)</a:t>
            </a:r>
          </a:p>
          <a:p>
            <a:r>
              <a:t>y: (207, 1) — прогноз на 5 минут вперёд для каждого узла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Размерности датасета и использование в моделях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X: (2000, 207, 2, 12) — все временные окна</a:t>
            </a:r>
          </a:p>
          <a:p>
            <a:r>
              <a:t>Y: (2000, 207, 1) — соответствующие цели</a:t>
            </a:r>
          </a:p>
          <a:p>
            <a:r>
              <a:t>MLP: (207, 2, 12) → (207, 24) → (207, 1), без графа</a:t>
            </a:r>
          </a:p>
          <a:p>
            <a:r>
              <a:t>GNN: использует x, edge_index и edge_attr</a:t>
            </a:r>
          </a:p>
          <a:p>
            <a:r>
              <a:t>SARIMAX: (165, 207) → flatten → 34260 значений</a:t>
            </a:r>
          </a:p>
          <a:p>
            <a:r>
              <a:t>Разбиение SARIMAX: 23982 / 3426 / 6852 (train/val/test)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Baseline: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Простейшая модель: прогноз = последнее наблюдение</a:t>
            </a:r>
          </a:p>
          <a:p>
            <a:r>
              <a:t>Не использует обучение и параметры</a:t>
            </a:r>
          </a:p>
          <a:p>
            <a:r>
              <a:t>Служит нижней границей качества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Baseline: MLP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Полносвязная нейросеть без учёта графовой структуры</a:t>
            </a:r>
          </a:p>
          <a:p>
            <a:r>
              <a:t>Вход: конкатенация временного окна признаков</a:t>
            </a:r>
          </a:p>
          <a:p>
            <a:r>
              <a:t>Несколько Linear + ReLU слоёв</a:t>
            </a:r>
          </a:p>
          <a:p>
            <a:r>
              <a:t>Показывает вклад временной динамики без графа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Графовая нейросеть (GNN)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Используется пространственно-временная GNN</a:t>
            </a:r>
          </a:p>
          <a:p>
            <a:r>
              <a:t>GCN / GraphSAGE для пространственной агрегации</a:t>
            </a:r>
          </a:p>
          <a:p>
            <a:r>
              <a:t>Временная динамика моделируется рекуррентно (TGCN)</a:t>
            </a:r>
          </a:p>
          <a:p>
            <a:r>
              <a:t>Позволяет учитывать влияние соседних дорог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SARIMAX (классическая модель)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Одномерная временная модель для отдельных сенсоров</a:t>
            </a:r>
          </a:p>
          <a:p>
            <a:r>
              <a:t>Учитывает тренд и сезонность</a:t>
            </a:r>
          </a:p>
          <a:p>
            <a:r>
              <a:t>Используется как sanity-check для сравнения с ML/DL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Результаты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Persistence —</a:t>
            </a:r>
            <a:r>
              <a:rPr dirty="0" err="1"/>
              <a:t>сильный</a:t>
            </a:r>
            <a:r>
              <a:rPr dirty="0"/>
              <a:t> </a:t>
            </a:r>
            <a:r>
              <a:rPr dirty="0" err="1"/>
              <a:t>базовый</a:t>
            </a:r>
            <a:r>
              <a:rPr dirty="0"/>
              <a:t> </a:t>
            </a:r>
            <a:r>
              <a:rPr dirty="0" err="1"/>
              <a:t>ориентир</a:t>
            </a:r>
            <a:endParaRPr dirty="0"/>
          </a:p>
          <a:p>
            <a:r>
              <a:rPr dirty="0"/>
              <a:t>MLP </a:t>
            </a:r>
            <a:r>
              <a:rPr dirty="0" err="1"/>
              <a:t>улучшает</a:t>
            </a:r>
            <a:r>
              <a:rPr dirty="0"/>
              <a:t> </a:t>
            </a:r>
            <a:r>
              <a:rPr dirty="0" err="1"/>
              <a:t>прогноз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счёт</a:t>
            </a:r>
            <a:r>
              <a:rPr dirty="0"/>
              <a:t> </a:t>
            </a:r>
            <a:r>
              <a:rPr dirty="0" err="1"/>
              <a:t>обучения</a:t>
            </a:r>
            <a:r>
              <a:rPr dirty="0"/>
              <a:t> </a:t>
            </a:r>
            <a:r>
              <a:rPr dirty="0" err="1"/>
              <a:t>временных</a:t>
            </a:r>
            <a:r>
              <a:rPr dirty="0"/>
              <a:t> </a:t>
            </a:r>
            <a:r>
              <a:rPr dirty="0" err="1"/>
              <a:t>зависимостей</a:t>
            </a:r>
            <a:endParaRPr dirty="0"/>
          </a:p>
          <a:p>
            <a:r>
              <a:rPr dirty="0"/>
              <a:t>GNN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наилучшие</a:t>
            </a:r>
            <a:r>
              <a:rPr dirty="0"/>
              <a:t> </a:t>
            </a:r>
            <a:r>
              <a:rPr dirty="0" err="1"/>
              <a:t>метрики</a:t>
            </a:r>
            <a:r>
              <a:rPr dirty="0"/>
              <a:t> </a:t>
            </a:r>
            <a:r>
              <a:rPr dirty="0" err="1"/>
              <a:t>благодаря</a:t>
            </a:r>
            <a:r>
              <a:rPr dirty="0"/>
              <a:t> </a:t>
            </a:r>
            <a:r>
              <a:rPr dirty="0" err="1"/>
              <a:t>учёту</a:t>
            </a:r>
            <a:r>
              <a:rPr dirty="0"/>
              <a:t> </a:t>
            </a:r>
            <a:r>
              <a:rPr dirty="0" err="1"/>
              <a:t>графа</a:t>
            </a:r>
            <a:endParaRPr dirty="0"/>
          </a:p>
          <a:p>
            <a:r>
              <a:rPr dirty="0"/>
              <a:t>SARIMAX </a:t>
            </a:r>
            <a:r>
              <a:rPr dirty="0" err="1"/>
              <a:t>уступает</a:t>
            </a:r>
            <a:r>
              <a:rPr dirty="0"/>
              <a:t> </a:t>
            </a:r>
            <a:r>
              <a:rPr lang="ru-RU" dirty="0"/>
              <a:t>всем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Графовая</a:t>
            </a:r>
            <a:r>
              <a:rPr dirty="0"/>
              <a:t> </a:t>
            </a:r>
            <a:r>
              <a:rPr dirty="0" err="1"/>
              <a:t>структура</a:t>
            </a:r>
            <a:r>
              <a:rPr dirty="0"/>
              <a:t> </a:t>
            </a:r>
            <a:r>
              <a:rPr lang="ru-RU" dirty="0"/>
              <a:t>немного</a:t>
            </a:r>
            <a:r>
              <a:rPr dirty="0"/>
              <a:t> </a:t>
            </a:r>
            <a:r>
              <a:rPr dirty="0" err="1"/>
              <a:t>улучшает</a:t>
            </a:r>
            <a:r>
              <a:rPr dirty="0"/>
              <a:t> </a:t>
            </a:r>
            <a:r>
              <a:rPr dirty="0" err="1"/>
              <a:t>прогноз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пути</a:t>
            </a:r>
            <a:endParaRPr dirty="0"/>
          </a:p>
          <a:p>
            <a:r>
              <a:rPr dirty="0"/>
              <a:t>MLP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простой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lang="ru-RU" dirty="0"/>
              <a:t>сильный</a:t>
            </a:r>
            <a:r>
              <a:rPr dirty="0"/>
              <a:t> baseline</a:t>
            </a:r>
          </a:p>
          <a:p>
            <a:r>
              <a:rPr dirty="0" err="1"/>
              <a:t>Возможные</a:t>
            </a:r>
            <a:r>
              <a:rPr dirty="0"/>
              <a:t> </a:t>
            </a:r>
            <a:r>
              <a:rPr dirty="0" err="1"/>
              <a:t>улучшения</a:t>
            </a:r>
            <a:r>
              <a:rPr dirty="0"/>
              <a:t>: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длинный</a:t>
            </a:r>
            <a:r>
              <a:rPr dirty="0"/>
              <a:t> </a:t>
            </a:r>
            <a:r>
              <a:rPr dirty="0" err="1"/>
              <a:t>горизонт</a:t>
            </a:r>
            <a:r>
              <a:rPr dirty="0"/>
              <a:t>, attention, edge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398</Words>
  <Application>Microsoft Macintosh PowerPoint</Application>
  <PresentationFormat>Экран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Прогнозирование времени в пути в дорожном графе</vt:lpstr>
      <vt:lpstr>Датасет и постановка задачи</vt:lpstr>
      <vt:lpstr>Размерности данных: граф и snapshot</vt:lpstr>
      <vt:lpstr>Размерности датасета и использование в моделях</vt:lpstr>
      <vt:lpstr>Baseline: Persistence</vt:lpstr>
      <vt:lpstr>Baseline: MLP</vt:lpstr>
      <vt:lpstr>Графовая нейросеть (GNN)</vt:lpstr>
      <vt:lpstr>SARIMAX (классическая модель)</vt:lpstr>
      <vt:lpstr>Результаты</vt:lpstr>
      <vt:lpstr>Выводы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Microsoft Office User</cp:lastModifiedBy>
  <cp:revision>7</cp:revision>
  <dcterms:created xsi:type="dcterms:W3CDTF">2013-01-27T09:14:16Z</dcterms:created>
  <dcterms:modified xsi:type="dcterms:W3CDTF">2025-12-18T15:17:10Z</dcterms:modified>
  <cp:category/>
</cp:coreProperties>
</file>